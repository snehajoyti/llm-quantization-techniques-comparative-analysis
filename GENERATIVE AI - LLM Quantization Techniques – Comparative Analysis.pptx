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8" r:id="rId11"/>
    <p:sldId id="265" r:id="rId12"/>
    <p:sldId id="269"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EF1954-EBDC-4D3A-8E0B-A8B01B1C0DDA}" type="datetimeFigureOut">
              <a:rPr lang="en-IN" smtClean="0"/>
              <a:t>11-05-2026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4535AD-8870-4ACA-8389-9255604C86AB}" type="slidenum">
              <a:rPr lang="en-IN" smtClean="0"/>
              <a:t>‹#›</a:t>
            </a:fld>
            <a:endParaRPr lang="en-IN"/>
          </a:p>
        </p:txBody>
      </p:sp>
    </p:spTree>
    <p:extLst>
      <p:ext uri="{BB962C8B-B14F-4D97-AF65-F5344CB8AC3E}">
        <p14:creationId xmlns:p14="http://schemas.microsoft.com/office/powerpoint/2010/main" val="2738085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34535AD-8870-4ACA-8389-9255604C86AB}" type="slidenum">
              <a:rPr lang="en-IN" smtClean="0"/>
              <a:t>5</a:t>
            </a:fld>
            <a:endParaRPr lang="en-IN"/>
          </a:p>
        </p:txBody>
      </p:sp>
    </p:spTree>
    <p:extLst>
      <p:ext uri="{BB962C8B-B14F-4D97-AF65-F5344CB8AC3E}">
        <p14:creationId xmlns:p14="http://schemas.microsoft.com/office/powerpoint/2010/main" val="2251312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73B38F-962F-4D56-9909-DFCE5271C5A5}" type="datetimeFigureOut">
              <a:rPr lang="en-IN" smtClean="0"/>
              <a:t>11-05-2026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122510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73B38F-962F-4D56-9909-DFCE5271C5A5}" type="datetimeFigureOut">
              <a:rPr lang="en-IN" smtClean="0"/>
              <a:t>11-05-2026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387315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73B38F-962F-4D56-9909-DFCE5271C5A5}" type="datetimeFigureOut">
              <a:rPr lang="en-IN" smtClean="0"/>
              <a:t>11-05-2026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217161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573B38F-962F-4D56-9909-DFCE5271C5A5}" type="datetimeFigureOut">
              <a:rPr lang="en-IN" smtClean="0"/>
              <a:t>11-05-2026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58770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573B38F-962F-4D56-9909-DFCE5271C5A5}" type="datetimeFigureOut">
              <a:rPr lang="en-IN" smtClean="0"/>
              <a:t>11-05-2026</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3963522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B573B38F-962F-4D56-9909-DFCE5271C5A5}" type="datetimeFigureOut">
              <a:rPr lang="en-IN" smtClean="0"/>
              <a:t>11-05-2026</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135351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573B38F-962F-4D56-9909-DFCE5271C5A5}" type="datetimeFigureOut">
              <a:rPr lang="en-IN" smtClean="0"/>
              <a:t>11-05-2026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3663480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573B38F-962F-4D56-9909-DFCE5271C5A5}" type="datetimeFigureOut">
              <a:rPr lang="en-IN" smtClean="0"/>
              <a:t>11-05-2026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348743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573B38F-962F-4D56-9909-DFCE5271C5A5}" type="datetimeFigureOut">
              <a:rPr lang="en-IN" smtClean="0"/>
              <a:t>11-05-2026</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1631305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73B38F-962F-4D56-9909-DFCE5271C5A5}" type="datetimeFigureOut">
              <a:rPr lang="en-IN" smtClean="0"/>
              <a:t>11-05-2026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267388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73B38F-962F-4D56-9909-DFCE5271C5A5}" type="datetimeFigureOut">
              <a:rPr lang="en-IN" smtClean="0"/>
              <a:t>11-05-2026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B91D35-42DA-48F5-9C8A-399AABA87F72}" type="slidenum">
              <a:rPr lang="en-IN" smtClean="0"/>
              <a:t>‹#›</a:t>
            </a:fld>
            <a:endParaRPr lang="en-IN"/>
          </a:p>
        </p:txBody>
      </p:sp>
    </p:spTree>
    <p:extLst>
      <p:ext uri="{BB962C8B-B14F-4D97-AF65-F5344CB8AC3E}">
        <p14:creationId xmlns:p14="http://schemas.microsoft.com/office/powerpoint/2010/main" val="42682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B573B38F-962F-4D56-9909-DFCE5271C5A5}" type="datetimeFigureOut">
              <a:rPr lang="en-IN" smtClean="0"/>
              <a:t>11-05-2026</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B5B91D35-42DA-48F5-9C8A-399AABA87F72}" type="slidenum">
              <a:rPr lang="en-IN" smtClean="0"/>
              <a:t>‹#›</a:t>
            </a:fld>
            <a:endParaRPr lang="en-IN"/>
          </a:p>
        </p:txBody>
      </p:sp>
    </p:spTree>
    <p:extLst>
      <p:ext uri="{BB962C8B-B14F-4D97-AF65-F5344CB8AC3E}">
        <p14:creationId xmlns:p14="http://schemas.microsoft.com/office/powerpoint/2010/main" val="2677366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58C2AA-DA12-7E08-8FF6-E7F685840E10}"/>
              </a:ext>
            </a:extLst>
          </p:cNvPr>
          <p:cNvSpPr>
            <a:spLocks noGrp="1"/>
          </p:cNvSpPr>
          <p:nvPr>
            <p:ph type="ctrTitle"/>
          </p:nvPr>
        </p:nvSpPr>
        <p:spPr/>
        <p:txBody>
          <a:bodyPr>
            <a:normAutofit fontScale="90000"/>
          </a:bodyPr>
          <a:lstStyle/>
          <a:p>
            <a:r>
              <a:rPr lang="en-IN" dirty="0" smtClean="0">
                <a:latin typeface="Algerian" panose="04020705040A02060702" pitchFamily="82" charset="0"/>
              </a:rPr>
              <a:t>GENERATIVE AI</a:t>
            </a:r>
            <a:br>
              <a:rPr lang="en-IN" dirty="0" smtClean="0">
                <a:latin typeface="Algerian" panose="04020705040A02060702" pitchFamily="82" charset="0"/>
              </a:rPr>
            </a:br>
            <a:r>
              <a:rPr lang="en-IN" sz="2200" dirty="0" smtClean="0">
                <a:latin typeface="Algerian" panose="04020705040A02060702" pitchFamily="82" charset="0"/>
              </a:rPr>
              <a:t/>
            </a:r>
            <a:br>
              <a:rPr lang="en-IN" sz="2200" dirty="0" smtClean="0">
                <a:latin typeface="Algerian" panose="04020705040A02060702" pitchFamily="82" charset="0"/>
              </a:rPr>
            </a:br>
            <a:r>
              <a:rPr lang="fr-FR" sz="2700" b="1" dirty="0">
                <a:solidFill>
                  <a:schemeClr val="tx1"/>
                </a:solidFill>
                <a:latin typeface="Algerian" panose="04020705040A02060702" pitchFamily="82" charset="0"/>
              </a:rPr>
              <a:t>LLM Quantization Techniques – Comparative Analysis</a:t>
            </a:r>
            <a:r>
              <a:rPr lang="fr-FR" b="1" dirty="0">
                <a:solidFill>
                  <a:schemeClr val="tx1"/>
                </a:solidFill>
                <a:latin typeface="Algerian" panose="04020705040A02060702" pitchFamily="82" charset="0"/>
              </a:rPr>
              <a:t/>
            </a:r>
            <a:br>
              <a:rPr lang="fr-FR" b="1" dirty="0">
                <a:solidFill>
                  <a:schemeClr val="tx1"/>
                </a:solidFill>
                <a:latin typeface="Algerian" panose="04020705040A02060702" pitchFamily="82" charset="0"/>
              </a:rPr>
            </a:br>
            <a:r>
              <a:rPr lang="en-IN" dirty="0" smtClean="0">
                <a:latin typeface="Algerian" panose="04020705040A02060702" pitchFamily="82" charset="0"/>
              </a:rPr>
              <a:t/>
            </a:r>
            <a:br>
              <a:rPr lang="en-IN" dirty="0" smtClean="0">
                <a:latin typeface="Algerian" panose="04020705040A02060702" pitchFamily="82" charset="0"/>
              </a:rPr>
            </a:br>
            <a:endParaRPr lang="en-IN" dirty="0">
              <a:latin typeface="Algerian" panose="04020705040A02060702" pitchFamily="82" charset="0"/>
            </a:endParaRPr>
          </a:p>
        </p:txBody>
      </p:sp>
      <p:sp>
        <p:nvSpPr>
          <p:cNvPr id="3" name="Subtitle 2">
            <a:extLst>
              <a:ext uri="{FF2B5EF4-FFF2-40B4-BE49-F238E27FC236}">
                <a16:creationId xmlns="" xmlns:a16="http://schemas.microsoft.com/office/drawing/2014/main" id="{B0841A7F-62DE-F114-C7A0-7EA64E8D4DFC}"/>
              </a:ext>
            </a:extLst>
          </p:cNvPr>
          <p:cNvSpPr>
            <a:spLocks noGrp="1"/>
          </p:cNvSpPr>
          <p:nvPr>
            <p:ph type="subTitle" idx="1"/>
          </p:nvPr>
        </p:nvSpPr>
        <p:spPr>
          <a:xfrm>
            <a:off x="1100015" y="3387012"/>
            <a:ext cx="7315200" cy="2649894"/>
          </a:xfrm>
        </p:spPr>
        <p:txBody>
          <a:bodyPr>
            <a:normAutofit lnSpcReduction="10000"/>
          </a:bodyPr>
          <a:lstStyle/>
          <a:p>
            <a:r>
              <a:rPr lang="en-IN" sz="2400" b="1" dirty="0" smtClean="0">
                <a:solidFill>
                  <a:schemeClr val="tx1"/>
                </a:solidFill>
                <a:latin typeface="Agency FB" pitchFamily="34" charset="0"/>
              </a:rPr>
              <a:t>Presented By</a:t>
            </a:r>
          </a:p>
          <a:p>
            <a:r>
              <a:rPr lang="en-IN" sz="1700" dirty="0">
                <a:solidFill>
                  <a:schemeClr val="tx1"/>
                </a:solidFill>
                <a:latin typeface="Arial" pitchFamily="34" charset="0"/>
                <a:cs typeface="Arial" pitchFamily="34" charset="0"/>
              </a:rPr>
              <a:t>Rajasekhar Reddy </a:t>
            </a:r>
            <a:r>
              <a:rPr lang="en-IN" sz="1700" dirty="0" smtClean="0">
                <a:solidFill>
                  <a:schemeClr val="tx1"/>
                </a:solidFill>
                <a:latin typeface="Arial" pitchFamily="34" charset="0"/>
                <a:cs typeface="Arial" pitchFamily="34" charset="0"/>
              </a:rPr>
              <a:t>Palavali</a:t>
            </a:r>
          </a:p>
          <a:p>
            <a:r>
              <a:rPr lang="fi-FI" sz="1700" dirty="0">
                <a:solidFill>
                  <a:schemeClr val="tx1"/>
                </a:solidFill>
                <a:latin typeface="Arial" pitchFamily="34" charset="0"/>
                <a:cs typeface="Arial" pitchFamily="34" charset="0"/>
              </a:rPr>
              <a:t>Jidigam Venkata sai pavan </a:t>
            </a:r>
            <a:r>
              <a:rPr lang="fi-FI" sz="1700" dirty="0" smtClean="0">
                <a:solidFill>
                  <a:schemeClr val="tx1"/>
                </a:solidFill>
                <a:latin typeface="Arial" pitchFamily="34" charset="0"/>
                <a:cs typeface="Arial" pitchFamily="34" charset="0"/>
              </a:rPr>
              <a:t>kalyan</a:t>
            </a:r>
          </a:p>
          <a:p>
            <a:r>
              <a:rPr lang="en-IN" sz="1700" dirty="0">
                <a:solidFill>
                  <a:schemeClr val="tx1"/>
                </a:solidFill>
                <a:latin typeface="Arial" pitchFamily="34" charset="0"/>
                <a:cs typeface="Arial" pitchFamily="34" charset="0"/>
              </a:rPr>
              <a:t>Pavithra </a:t>
            </a:r>
            <a:r>
              <a:rPr lang="en-IN" sz="1700" dirty="0" smtClean="0">
                <a:solidFill>
                  <a:schemeClr val="tx1"/>
                </a:solidFill>
                <a:latin typeface="Arial" pitchFamily="34" charset="0"/>
                <a:cs typeface="Arial" pitchFamily="34" charset="0"/>
              </a:rPr>
              <a:t>PN</a:t>
            </a:r>
          </a:p>
          <a:p>
            <a:r>
              <a:rPr lang="en-IN" sz="1700" dirty="0">
                <a:solidFill>
                  <a:schemeClr val="tx1"/>
                </a:solidFill>
                <a:latin typeface="Arial" pitchFamily="34" charset="0"/>
                <a:cs typeface="Arial" pitchFamily="34" charset="0"/>
              </a:rPr>
              <a:t>Sneha </a:t>
            </a:r>
            <a:r>
              <a:rPr lang="en-IN" sz="1700" dirty="0" smtClean="0">
                <a:solidFill>
                  <a:schemeClr val="tx1"/>
                </a:solidFill>
                <a:latin typeface="Arial" pitchFamily="34" charset="0"/>
                <a:cs typeface="Arial" pitchFamily="34" charset="0"/>
              </a:rPr>
              <a:t>Pramanik</a:t>
            </a:r>
          </a:p>
          <a:p>
            <a:r>
              <a:rPr lang="en-IN" sz="1700" dirty="0">
                <a:solidFill>
                  <a:schemeClr val="tx1"/>
                </a:solidFill>
                <a:latin typeface="Arial" pitchFamily="34" charset="0"/>
                <a:cs typeface="Arial" pitchFamily="34" charset="0"/>
              </a:rPr>
              <a:t>Sogala </a:t>
            </a:r>
            <a:r>
              <a:rPr lang="en-IN" sz="1700" dirty="0" smtClean="0">
                <a:solidFill>
                  <a:schemeClr val="tx1"/>
                </a:solidFill>
                <a:latin typeface="Arial" pitchFamily="34" charset="0"/>
                <a:cs typeface="Arial" pitchFamily="34" charset="0"/>
              </a:rPr>
              <a:t>Rahul</a:t>
            </a:r>
          </a:p>
          <a:p>
            <a:r>
              <a:rPr lang="en-IN" sz="1700" dirty="0">
                <a:solidFill>
                  <a:schemeClr val="tx1"/>
                </a:solidFill>
                <a:latin typeface="Arial" pitchFamily="34" charset="0"/>
                <a:cs typeface="Arial" pitchFamily="34" charset="0"/>
              </a:rPr>
              <a:t>Santhosh Kumar H N</a:t>
            </a:r>
            <a:endParaRPr lang="en-IN" sz="1700" dirty="0" smtClean="0">
              <a:solidFill>
                <a:schemeClr val="tx1"/>
              </a:solidFill>
              <a:latin typeface="Arial" pitchFamily="34" charset="0"/>
              <a:cs typeface="Arial" pitchFamily="34" charset="0"/>
            </a:endParaRPr>
          </a:p>
          <a:p>
            <a:endParaRPr lang="en-IN" b="1" dirty="0">
              <a:solidFill>
                <a:schemeClr val="tx1"/>
              </a:solidFill>
              <a:latin typeface="Algerian" panose="04020705040A02060702" pitchFamily="82" charset="0"/>
            </a:endParaRPr>
          </a:p>
          <a:p>
            <a:endParaRPr lang="fr-FR" b="1" dirty="0" smtClean="0">
              <a:solidFill>
                <a:schemeClr val="tx1"/>
              </a:solidFill>
              <a:latin typeface="Algerian" panose="04020705040A02060702" pitchFamily="82" charset="0"/>
            </a:endParaRPr>
          </a:p>
        </p:txBody>
      </p:sp>
    </p:spTree>
    <p:extLst>
      <p:ext uri="{BB962C8B-B14F-4D97-AF65-F5344CB8AC3E}">
        <p14:creationId xmlns:p14="http://schemas.microsoft.com/office/powerpoint/2010/main" val="3005157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4D9B1A-4837-37CC-24D9-A7B5951883F5}"/>
              </a:ext>
            </a:extLst>
          </p:cNvPr>
          <p:cNvSpPr>
            <a:spLocks noGrp="1"/>
          </p:cNvSpPr>
          <p:nvPr>
            <p:ph type="title"/>
          </p:nvPr>
        </p:nvSpPr>
        <p:spPr/>
        <p:txBody>
          <a:bodyPr>
            <a:normAutofit/>
          </a:bodyPr>
          <a:lstStyle/>
          <a:p>
            <a:r>
              <a:rPr lang="en-IN" sz="3200" b="1" dirty="0">
                <a:solidFill>
                  <a:schemeClr val="tx1"/>
                </a:solidFill>
                <a:latin typeface="Algerian" panose="04020705040A02060702" pitchFamily="82" charset="0"/>
              </a:rPr>
              <a:t>Introduction</a:t>
            </a:r>
          </a:p>
        </p:txBody>
      </p:sp>
      <p:sp>
        <p:nvSpPr>
          <p:cNvPr id="3" name="Content Placeholder 2">
            <a:extLst>
              <a:ext uri="{FF2B5EF4-FFF2-40B4-BE49-F238E27FC236}">
                <a16:creationId xmlns="" xmlns:a16="http://schemas.microsoft.com/office/drawing/2014/main" id="{91706224-7236-197A-12F6-ACEF55EEAC5E}"/>
              </a:ext>
            </a:extLst>
          </p:cNvPr>
          <p:cNvSpPr>
            <a:spLocks noGrp="1"/>
          </p:cNvSpPr>
          <p:nvPr>
            <p:ph idx="1"/>
          </p:nvPr>
        </p:nvSpPr>
        <p:spPr>
          <a:xfrm>
            <a:off x="3869268" y="560439"/>
            <a:ext cx="7315200" cy="6056671"/>
          </a:xfrm>
        </p:spPr>
        <p:txBody>
          <a:bodyPr>
            <a:normAutofit/>
          </a:bodyPr>
          <a:lstStyle/>
          <a:p>
            <a:pPr marL="0" indent="0">
              <a:buNone/>
            </a:pPr>
            <a:r>
              <a:rPr lang="en-US" dirty="0"/>
              <a:t>Large Language Models (LLMs) are powerful artificial intelligence models used for tasks such as text generation, question answering, and natural language understanding. They are trained on large datasets and contain millions or billions of parameters, making them highly accurate and capable. However, their large size requires high memory and computational resources, which makes deployment difficult on devices with limited hardware. Additionally, high resource usage increases latency and operational cost. To address these challenges, optimization techniques are used. One important technique is </a:t>
            </a:r>
            <a:r>
              <a:rPr lang="en-US" b="1" dirty="0"/>
              <a:t>quantization</a:t>
            </a:r>
            <a:r>
              <a:rPr lang="en-US" dirty="0"/>
              <a:t>, which reduces the precision of model parameters. This helps decrease model size, improve inference speed, and enable efficient deployment while maintaining acceptable performance.</a:t>
            </a:r>
            <a:endParaRPr lang="en-IN" dirty="0"/>
          </a:p>
        </p:txBody>
      </p:sp>
    </p:spTree>
    <p:extLst>
      <p:ext uri="{BB962C8B-B14F-4D97-AF65-F5344CB8AC3E}">
        <p14:creationId xmlns:p14="http://schemas.microsoft.com/office/powerpoint/2010/main" val="3555548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3F9D9-3D08-CF11-2C18-B2A6C70EB4AA}"/>
              </a:ext>
            </a:extLst>
          </p:cNvPr>
          <p:cNvSpPr>
            <a:spLocks noGrp="1"/>
          </p:cNvSpPr>
          <p:nvPr>
            <p:ph type="title"/>
          </p:nvPr>
        </p:nvSpPr>
        <p:spPr/>
        <p:txBody>
          <a:bodyPr>
            <a:normAutofit/>
          </a:bodyPr>
          <a:lstStyle/>
          <a:p>
            <a:r>
              <a:rPr lang="en-IN" sz="4000" b="1" dirty="0">
                <a:solidFill>
                  <a:schemeClr val="tx1"/>
                </a:solidFill>
                <a:latin typeface="Algerian" panose="04020705040A02060702" pitchFamily="82" charset="0"/>
              </a:rPr>
              <a:t>Objective</a:t>
            </a:r>
          </a:p>
        </p:txBody>
      </p:sp>
      <p:sp>
        <p:nvSpPr>
          <p:cNvPr id="3" name="Content Placeholder 2">
            <a:extLst>
              <a:ext uri="{FF2B5EF4-FFF2-40B4-BE49-F238E27FC236}">
                <a16:creationId xmlns="" xmlns:a16="http://schemas.microsoft.com/office/drawing/2014/main" id="{EF9D00EE-0F3B-A914-2859-ACDDD7629C1D}"/>
              </a:ext>
            </a:extLst>
          </p:cNvPr>
          <p:cNvSpPr>
            <a:spLocks noGrp="1"/>
          </p:cNvSpPr>
          <p:nvPr>
            <p:ph idx="1"/>
          </p:nvPr>
        </p:nvSpPr>
        <p:spPr/>
        <p:txBody>
          <a:bodyPr>
            <a:normAutofit/>
          </a:bodyPr>
          <a:lstStyle/>
          <a:p>
            <a:pPr>
              <a:buFont typeface="Wingdings" pitchFamily="2" charset="2"/>
              <a:buChar char="Ø"/>
            </a:pPr>
            <a:r>
              <a:rPr lang="en-IN" sz="2400" dirty="0"/>
              <a:t>Optimize LLMs by reducing size and improving efficiency </a:t>
            </a:r>
            <a:endParaRPr lang="en-IN" sz="2400" dirty="0" smtClean="0"/>
          </a:p>
          <a:p>
            <a:pPr>
              <a:buFont typeface="Wingdings" pitchFamily="2" charset="2"/>
              <a:buChar char="Ø"/>
            </a:pPr>
            <a:r>
              <a:rPr lang="en-IN" sz="2400" dirty="0" smtClean="0"/>
              <a:t>Apply </a:t>
            </a:r>
            <a:r>
              <a:rPr lang="en-IN" sz="2400" dirty="0"/>
              <a:t>quantization techniques for model compression </a:t>
            </a:r>
            <a:endParaRPr lang="en-IN" sz="2400" dirty="0" smtClean="0"/>
          </a:p>
          <a:p>
            <a:pPr>
              <a:buFont typeface="Wingdings" pitchFamily="2" charset="2"/>
              <a:buChar char="Ø"/>
            </a:pPr>
            <a:r>
              <a:rPr lang="en-IN" sz="2400" dirty="0" smtClean="0"/>
              <a:t>Evaluate </a:t>
            </a:r>
            <a:r>
              <a:rPr lang="en-IN" sz="2400" dirty="0"/>
              <a:t>performance improvements </a:t>
            </a:r>
            <a:endParaRPr lang="en-IN" sz="2400" dirty="0" smtClean="0"/>
          </a:p>
          <a:p>
            <a:pPr>
              <a:buFont typeface="Wingdings" pitchFamily="2" charset="2"/>
              <a:buChar char="Ø"/>
            </a:pPr>
            <a:r>
              <a:rPr lang="en-IN" sz="2400" dirty="0" smtClean="0"/>
              <a:t>Compare original and quantized models</a:t>
            </a:r>
          </a:p>
          <a:p>
            <a:pPr>
              <a:buFont typeface="Wingdings" pitchFamily="2" charset="2"/>
              <a:buChar char="Ø"/>
            </a:pPr>
            <a:r>
              <a:rPr lang="en-IN" sz="2400" dirty="0" smtClean="0"/>
              <a:t>Analyze </a:t>
            </a:r>
            <a:r>
              <a:rPr lang="en-IN" sz="2400" dirty="0"/>
              <a:t>results based on</a:t>
            </a:r>
            <a:r>
              <a:rPr lang="en-IN" sz="2400" dirty="0" smtClean="0"/>
              <a:t>:</a:t>
            </a:r>
          </a:p>
          <a:p>
            <a:pPr>
              <a:buFont typeface="Arial" pitchFamily="34" charset="0"/>
              <a:buChar char="•"/>
            </a:pPr>
            <a:r>
              <a:rPr lang="en-IN" sz="1800" b="1" dirty="0" smtClean="0"/>
              <a:t>Speed</a:t>
            </a:r>
            <a:r>
              <a:rPr lang="en-IN" sz="1800" dirty="0" smtClean="0"/>
              <a:t> </a:t>
            </a:r>
            <a:endParaRPr lang="en-IN" sz="1800" dirty="0"/>
          </a:p>
          <a:p>
            <a:pPr>
              <a:buFont typeface="Arial" pitchFamily="34" charset="0"/>
              <a:buChar char="•"/>
            </a:pPr>
            <a:r>
              <a:rPr lang="en-IN" sz="1800" b="1" dirty="0"/>
              <a:t>Memory Usage</a:t>
            </a:r>
            <a:r>
              <a:rPr lang="en-IN" sz="1800" dirty="0"/>
              <a:t> </a:t>
            </a:r>
          </a:p>
          <a:p>
            <a:pPr>
              <a:buFont typeface="Arial" pitchFamily="34" charset="0"/>
              <a:buChar char="•"/>
            </a:pPr>
            <a:r>
              <a:rPr lang="en-IN" sz="1800" b="1" dirty="0"/>
              <a:t>Output Quality</a:t>
            </a:r>
            <a:endParaRPr lang="en-IN" sz="1800" dirty="0"/>
          </a:p>
        </p:txBody>
      </p:sp>
    </p:spTree>
    <p:extLst>
      <p:ext uri="{BB962C8B-B14F-4D97-AF65-F5344CB8AC3E}">
        <p14:creationId xmlns:p14="http://schemas.microsoft.com/office/powerpoint/2010/main" val="319630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195104-E410-7C61-4674-1D951B3055C2}"/>
              </a:ext>
            </a:extLst>
          </p:cNvPr>
          <p:cNvSpPr>
            <a:spLocks noGrp="1"/>
          </p:cNvSpPr>
          <p:nvPr>
            <p:ph type="title"/>
          </p:nvPr>
        </p:nvSpPr>
        <p:spPr>
          <a:xfrm>
            <a:off x="78658" y="1123837"/>
            <a:ext cx="3121743" cy="4628034"/>
          </a:xfrm>
        </p:spPr>
        <p:txBody>
          <a:bodyPr>
            <a:normAutofit/>
          </a:bodyPr>
          <a:lstStyle/>
          <a:p>
            <a:r>
              <a:rPr lang="en-IN" sz="2800" b="1" dirty="0">
                <a:solidFill>
                  <a:schemeClr val="tx1"/>
                </a:solidFill>
                <a:latin typeface="Algerian" panose="04020705040A02060702" pitchFamily="82" charset="0"/>
              </a:rPr>
              <a:t>Models Used &amp; Quantization</a:t>
            </a:r>
          </a:p>
        </p:txBody>
      </p:sp>
      <p:sp>
        <p:nvSpPr>
          <p:cNvPr id="3" name="Content Placeholder 2">
            <a:extLst>
              <a:ext uri="{FF2B5EF4-FFF2-40B4-BE49-F238E27FC236}">
                <a16:creationId xmlns="" xmlns:a16="http://schemas.microsoft.com/office/drawing/2014/main" id="{019F15E3-7829-18F9-A9B7-F5E112D142B5}"/>
              </a:ext>
            </a:extLst>
          </p:cNvPr>
          <p:cNvSpPr>
            <a:spLocks noGrp="1"/>
          </p:cNvSpPr>
          <p:nvPr>
            <p:ph idx="1"/>
          </p:nvPr>
        </p:nvSpPr>
        <p:spPr>
          <a:xfrm>
            <a:off x="3869268" y="963560"/>
            <a:ext cx="7315200" cy="5663381"/>
          </a:xfrm>
        </p:spPr>
        <p:txBody>
          <a:bodyPr>
            <a:normAutofit/>
          </a:bodyPr>
          <a:lstStyle/>
          <a:p>
            <a:pPr>
              <a:buFont typeface="Wingdings" pitchFamily="2" charset="2"/>
              <a:buChar char="Ø"/>
            </a:pPr>
            <a:r>
              <a:rPr lang="en-IN" dirty="0"/>
              <a:t>🟢 </a:t>
            </a:r>
            <a:r>
              <a:rPr lang="en-IN" b="1" dirty="0"/>
              <a:t>GPT-2 Model</a:t>
            </a:r>
            <a:endParaRPr lang="en-IN" dirty="0"/>
          </a:p>
          <a:p>
            <a:r>
              <a:rPr lang="en-IN" dirty="0"/>
              <a:t>Pre-trained model for </a:t>
            </a:r>
            <a:r>
              <a:rPr lang="en-IN" b="1" dirty="0"/>
              <a:t>text generation</a:t>
            </a:r>
            <a:r>
              <a:rPr lang="en-IN" dirty="0"/>
              <a:t> </a:t>
            </a:r>
          </a:p>
          <a:p>
            <a:r>
              <a:rPr lang="en-IN" dirty="0"/>
              <a:t>Applied multiple quantization techniques (</a:t>
            </a:r>
            <a:r>
              <a:rPr lang="en-IN" b="1" dirty="0"/>
              <a:t>INT8, INT4, GPTQ</a:t>
            </a:r>
            <a:r>
              <a:rPr lang="en-IN" dirty="0"/>
              <a:t>) </a:t>
            </a:r>
          </a:p>
          <a:p>
            <a:r>
              <a:rPr lang="en-IN" dirty="0"/>
              <a:t>Helps reduce </a:t>
            </a:r>
            <a:r>
              <a:rPr lang="en-IN" b="1" dirty="0"/>
              <a:t>memory usage</a:t>
            </a:r>
            <a:r>
              <a:rPr lang="en-IN" dirty="0"/>
              <a:t> and improve </a:t>
            </a:r>
            <a:r>
              <a:rPr lang="en-IN" b="1" dirty="0"/>
              <a:t>speed</a:t>
            </a:r>
            <a:r>
              <a:rPr lang="en-IN" dirty="0"/>
              <a:t> </a:t>
            </a:r>
          </a:p>
          <a:p>
            <a:pPr>
              <a:buFont typeface="Wingdings" pitchFamily="2" charset="2"/>
              <a:buChar char="Ø"/>
            </a:pPr>
            <a:r>
              <a:rPr lang="en-IN" dirty="0"/>
              <a:t>🔵 </a:t>
            </a:r>
            <a:r>
              <a:rPr lang="en-IN" b="1" dirty="0"/>
              <a:t>LLaMA-2 (7B) Model</a:t>
            </a:r>
            <a:endParaRPr lang="en-IN" dirty="0"/>
          </a:p>
          <a:p>
            <a:r>
              <a:rPr lang="en-IN" dirty="0"/>
              <a:t>Advanced </a:t>
            </a:r>
            <a:r>
              <a:rPr lang="en-IN" b="1" dirty="0"/>
              <a:t>large language model</a:t>
            </a:r>
            <a:r>
              <a:rPr lang="en-IN" dirty="0"/>
              <a:t> </a:t>
            </a:r>
          </a:p>
          <a:p>
            <a:r>
              <a:rPr lang="en-IN" dirty="0"/>
              <a:t>Applied quantization techniques (</a:t>
            </a:r>
            <a:r>
              <a:rPr lang="en-IN" b="1" dirty="0"/>
              <a:t>NF4, EXL2, NVFP4</a:t>
            </a:r>
            <a:r>
              <a:rPr lang="en-IN" dirty="0"/>
              <a:t>) </a:t>
            </a:r>
          </a:p>
          <a:p>
            <a:r>
              <a:rPr lang="en-IN" dirty="0"/>
              <a:t>Provides </a:t>
            </a:r>
            <a:r>
              <a:rPr lang="en-IN" b="1" dirty="0"/>
              <a:t>efficient performance</a:t>
            </a:r>
            <a:r>
              <a:rPr lang="en-IN" dirty="0"/>
              <a:t> with reduced size </a:t>
            </a:r>
          </a:p>
          <a:p>
            <a:pPr>
              <a:buFont typeface="Wingdings" pitchFamily="2" charset="2"/>
              <a:buChar char="Ø"/>
            </a:pPr>
            <a:r>
              <a:rPr lang="en-IN" b="1" dirty="0"/>
              <a:t>⚙️ Tools Used</a:t>
            </a:r>
          </a:p>
          <a:p>
            <a:r>
              <a:rPr lang="en-IN" b="1" dirty="0"/>
              <a:t>BitsAndBytes</a:t>
            </a:r>
            <a:r>
              <a:rPr lang="en-IN" dirty="0"/>
              <a:t> → Used for quantization </a:t>
            </a:r>
          </a:p>
          <a:p>
            <a:r>
              <a:rPr lang="en-IN" b="1" dirty="0"/>
              <a:t>AutoTokenizer</a:t>
            </a:r>
            <a:r>
              <a:rPr lang="en-IN" dirty="0"/>
              <a:t> → Used for text processing</a:t>
            </a:r>
          </a:p>
          <a:p>
            <a:pPr marL="0" indent="0">
              <a:buNone/>
            </a:pPr>
            <a:endParaRPr lang="en-IN" dirty="0"/>
          </a:p>
          <a:p>
            <a:endParaRPr lang="en-IN" dirty="0"/>
          </a:p>
        </p:txBody>
      </p:sp>
    </p:spTree>
    <p:extLst>
      <p:ext uri="{BB962C8B-B14F-4D97-AF65-F5344CB8AC3E}">
        <p14:creationId xmlns:p14="http://schemas.microsoft.com/office/powerpoint/2010/main" val="3362331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A1A075-41FD-0827-4362-8A8646FB53E4}"/>
              </a:ext>
            </a:extLst>
          </p:cNvPr>
          <p:cNvSpPr>
            <a:spLocks noGrp="1"/>
          </p:cNvSpPr>
          <p:nvPr>
            <p:ph type="title"/>
          </p:nvPr>
        </p:nvSpPr>
        <p:spPr>
          <a:xfrm>
            <a:off x="234258" y="1058523"/>
            <a:ext cx="2947482" cy="4601183"/>
          </a:xfrm>
        </p:spPr>
        <p:txBody>
          <a:bodyPr>
            <a:normAutofit/>
          </a:bodyPr>
          <a:lstStyle/>
          <a:p>
            <a:r>
              <a:rPr lang="en-IN" sz="3200" b="1" dirty="0">
                <a:solidFill>
                  <a:schemeClr val="tx1"/>
                </a:solidFill>
                <a:latin typeface="Algerian" panose="04020705040A02060702" pitchFamily="82" charset="0"/>
              </a:rPr>
              <a:t>What is Quantization?</a:t>
            </a:r>
          </a:p>
        </p:txBody>
      </p:sp>
      <p:sp>
        <p:nvSpPr>
          <p:cNvPr id="3" name="Content Placeholder 2">
            <a:extLst>
              <a:ext uri="{FF2B5EF4-FFF2-40B4-BE49-F238E27FC236}">
                <a16:creationId xmlns="" xmlns:a16="http://schemas.microsoft.com/office/drawing/2014/main" id="{B5ACCD76-F49A-A2BF-E539-43BD4D8B66F6}"/>
              </a:ext>
            </a:extLst>
          </p:cNvPr>
          <p:cNvSpPr>
            <a:spLocks noGrp="1"/>
          </p:cNvSpPr>
          <p:nvPr>
            <p:ph idx="1"/>
          </p:nvPr>
        </p:nvSpPr>
        <p:spPr/>
        <p:txBody>
          <a:bodyPr>
            <a:normAutofit lnSpcReduction="10000"/>
          </a:bodyPr>
          <a:lstStyle/>
          <a:p>
            <a:pPr>
              <a:buFont typeface="Wingdings" pitchFamily="2" charset="2"/>
              <a:buChar char="Ø"/>
            </a:pPr>
            <a:r>
              <a:rPr lang="en-US" b="1" dirty="0"/>
              <a:t>Quantization</a:t>
            </a:r>
            <a:r>
              <a:rPr lang="en-US" dirty="0"/>
              <a:t> is a technique used to reduce the precision of model </a:t>
            </a:r>
            <a:r>
              <a:rPr lang="en-US" dirty="0" smtClean="0"/>
              <a:t>weights</a:t>
            </a:r>
          </a:p>
          <a:p>
            <a:pPr>
              <a:buFont typeface="Wingdings" pitchFamily="2" charset="2"/>
              <a:buChar char="Ø"/>
            </a:pPr>
            <a:r>
              <a:rPr lang="en-US" dirty="0" smtClean="0"/>
              <a:t> </a:t>
            </a:r>
            <a:r>
              <a:rPr lang="en-US" dirty="0"/>
              <a:t>Converts </a:t>
            </a:r>
            <a:r>
              <a:rPr lang="en-US" b="1" dirty="0"/>
              <a:t>higher bit values (32-bit)</a:t>
            </a:r>
            <a:r>
              <a:rPr lang="en-US" dirty="0"/>
              <a:t> into </a:t>
            </a:r>
            <a:r>
              <a:rPr lang="en-US" b="1" dirty="0"/>
              <a:t>lower bits (8-bit, 4-bit</a:t>
            </a:r>
            <a:r>
              <a:rPr lang="en-US" b="1" dirty="0" smtClean="0"/>
              <a:t>)</a:t>
            </a:r>
          </a:p>
          <a:p>
            <a:pPr>
              <a:buFont typeface="Wingdings" pitchFamily="2" charset="2"/>
              <a:buChar char="Ø"/>
            </a:pPr>
            <a:r>
              <a:rPr lang="en-US" dirty="0" smtClean="0"/>
              <a:t> </a:t>
            </a:r>
            <a:r>
              <a:rPr lang="en-US" dirty="0"/>
              <a:t>Helps in</a:t>
            </a:r>
            <a:r>
              <a:rPr lang="en-US" dirty="0" smtClean="0"/>
              <a:t>:</a:t>
            </a:r>
          </a:p>
          <a:p>
            <a:pPr>
              <a:buFont typeface="Wingdings" pitchFamily="2" charset="2"/>
              <a:buChar char="Ø"/>
            </a:pPr>
            <a:r>
              <a:rPr lang="en-US" dirty="0" smtClean="0"/>
              <a:t> </a:t>
            </a:r>
            <a:r>
              <a:rPr lang="en-US" dirty="0"/>
              <a:t>Reducing </a:t>
            </a:r>
            <a:r>
              <a:rPr lang="en-US" b="1" dirty="0"/>
              <a:t>model size</a:t>
            </a:r>
            <a:r>
              <a:rPr lang="en-US" dirty="0"/>
              <a:t> </a:t>
            </a:r>
          </a:p>
          <a:p>
            <a:pPr>
              <a:buFont typeface="Wingdings" pitchFamily="2" charset="2"/>
              <a:buChar char="Ø"/>
            </a:pPr>
            <a:r>
              <a:rPr lang="en-US" dirty="0"/>
              <a:t>Lowering </a:t>
            </a:r>
            <a:r>
              <a:rPr lang="en-US" b="1" dirty="0"/>
              <a:t>memory usage</a:t>
            </a:r>
            <a:r>
              <a:rPr lang="en-US" dirty="0"/>
              <a:t> </a:t>
            </a:r>
          </a:p>
          <a:p>
            <a:pPr>
              <a:buFont typeface="Wingdings" pitchFamily="2" charset="2"/>
              <a:buChar char="Ø"/>
            </a:pPr>
            <a:r>
              <a:rPr lang="en-US" dirty="0"/>
              <a:t>Improving </a:t>
            </a:r>
            <a:r>
              <a:rPr lang="en-US" b="1" dirty="0"/>
              <a:t>computation speed</a:t>
            </a:r>
            <a:r>
              <a:rPr lang="en-US" dirty="0"/>
              <a:t> </a:t>
            </a:r>
          </a:p>
          <a:p>
            <a:pPr>
              <a:buFont typeface="Wingdings" pitchFamily="2" charset="2"/>
              <a:buChar char="Ø"/>
            </a:pPr>
            <a:r>
              <a:rPr lang="en-US" dirty="0"/>
              <a:t>Slight impact on </a:t>
            </a:r>
            <a:r>
              <a:rPr lang="en-US" b="1" dirty="0"/>
              <a:t>accuracy</a:t>
            </a:r>
            <a:r>
              <a:rPr lang="en-US" dirty="0"/>
              <a:t>, but increases efficiency </a:t>
            </a:r>
            <a:endParaRPr lang="en-US" dirty="0" smtClean="0"/>
          </a:p>
          <a:p>
            <a:pPr>
              <a:buFont typeface="Wingdings" pitchFamily="2" charset="2"/>
              <a:buChar char="Ø"/>
            </a:pPr>
            <a:r>
              <a:rPr lang="en-US" dirty="0" smtClean="0"/>
              <a:t>Makes </a:t>
            </a:r>
            <a:r>
              <a:rPr lang="en-US" dirty="0"/>
              <a:t>models suitable for </a:t>
            </a:r>
            <a:r>
              <a:rPr lang="en-US" b="1" dirty="0"/>
              <a:t>real-world deployment</a:t>
            </a:r>
            <a:endParaRPr lang="en-US" dirty="0" smtClean="0">
              <a:latin typeface="Arial Narrow" pitchFamily="34" charset="0"/>
            </a:endParaRPr>
          </a:p>
          <a:p>
            <a:pPr marL="0" indent="0">
              <a:buNone/>
            </a:pPr>
            <a:r>
              <a:rPr lang="en-US" b="1" dirty="0" smtClean="0">
                <a:latin typeface="Arial Narrow" pitchFamily="34" charset="0"/>
              </a:rPr>
              <a:t>Diagram:-</a:t>
            </a:r>
            <a:endParaRPr lang="en-US" dirty="0">
              <a:latin typeface="Arial Narrow" pitchFamily="34" charset="0"/>
            </a:endParaRPr>
          </a:p>
          <a:p>
            <a:pPr marL="0" indent="0" algn="ctr">
              <a:buNone/>
            </a:pPr>
            <a:r>
              <a:rPr lang="en-IN" sz="1800" dirty="0">
                <a:latin typeface="Arial Narrow" pitchFamily="34" charset="0"/>
              </a:rPr>
              <a:t>32-bit  →  8-bit  →  4-bit</a:t>
            </a:r>
          </a:p>
          <a:p>
            <a:pPr marL="0" indent="0" algn="ctr">
              <a:buNone/>
            </a:pPr>
            <a:r>
              <a:rPr lang="en-IN" sz="1800" dirty="0">
                <a:latin typeface="Arial Narrow" pitchFamily="34" charset="0"/>
              </a:rPr>
              <a:t> Large     Medium     Small</a:t>
            </a:r>
          </a:p>
          <a:p>
            <a:pPr marL="0" indent="0" algn="ctr">
              <a:buNone/>
            </a:pPr>
            <a:r>
              <a:rPr lang="en-IN" sz="1800" dirty="0">
                <a:latin typeface="Arial Narrow" pitchFamily="34" charset="0"/>
              </a:rPr>
              <a:t> Slow      Faster     Fastest</a:t>
            </a:r>
          </a:p>
        </p:txBody>
      </p:sp>
    </p:spTree>
    <p:extLst>
      <p:ext uri="{BB962C8B-B14F-4D97-AF65-F5344CB8AC3E}">
        <p14:creationId xmlns:p14="http://schemas.microsoft.com/office/powerpoint/2010/main" val="55978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latin typeface="Algerian" pitchFamily="82" charset="0"/>
              </a:rPr>
              <a:t>Techniques Used</a:t>
            </a:r>
          </a:p>
        </p:txBody>
      </p:sp>
      <p:sp>
        <p:nvSpPr>
          <p:cNvPr id="3" name="Content Placeholder 2"/>
          <p:cNvSpPr>
            <a:spLocks noGrp="1"/>
          </p:cNvSpPr>
          <p:nvPr>
            <p:ph idx="1"/>
          </p:nvPr>
        </p:nvSpPr>
        <p:spPr>
          <a:xfrm>
            <a:off x="3582955" y="587829"/>
            <a:ext cx="8014996" cy="5635689"/>
          </a:xfrm>
        </p:spPr>
        <p:txBody>
          <a:bodyPr>
            <a:normAutofit/>
          </a:bodyPr>
          <a:lstStyle/>
          <a:p>
            <a:pPr>
              <a:buFont typeface="Wingdings" pitchFamily="2" charset="2"/>
              <a:buChar char="Ø"/>
            </a:pPr>
            <a:r>
              <a:rPr lang="en-US" sz="1800" dirty="0"/>
              <a:t>Quantization techniques reduce the </a:t>
            </a:r>
            <a:r>
              <a:rPr lang="en-US" sz="1800" b="1" dirty="0"/>
              <a:t>precision of model </a:t>
            </a:r>
            <a:r>
              <a:rPr lang="en-US" sz="1800" b="1" dirty="0" smtClean="0"/>
              <a:t>weights.</a:t>
            </a:r>
          </a:p>
          <a:p>
            <a:pPr>
              <a:buFont typeface="Wingdings" pitchFamily="2" charset="2"/>
              <a:buChar char="Ø"/>
            </a:pPr>
            <a:r>
              <a:rPr lang="en-US" sz="1800" dirty="0"/>
              <a:t>Help in decreasing </a:t>
            </a:r>
            <a:r>
              <a:rPr lang="en-US" sz="1800" b="1" dirty="0"/>
              <a:t>model size</a:t>
            </a:r>
            <a:r>
              <a:rPr lang="en-US" sz="1800" dirty="0"/>
              <a:t> and improving </a:t>
            </a:r>
            <a:r>
              <a:rPr lang="en-US" sz="1800" b="1" dirty="0" smtClean="0"/>
              <a:t>efficiency.</a:t>
            </a:r>
          </a:p>
          <a:p>
            <a:pPr>
              <a:buFont typeface="Wingdings" pitchFamily="2" charset="2"/>
              <a:buChar char="Ø"/>
            </a:pPr>
            <a:r>
              <a:rPr lang="en-US" sz="1800" b="1" dirty="0"/>
              <a:t>INT8</a:t>
            </a:r>
            <a:r>
              <a:rPr lang="en-US" sz="1800" dirty="0"/>
              <a:t> provides a balance between </a:t>
            </a:r>
            <a:r>
              <a:rPr lang="en-US" sz="1800" b="1" dirty="0"/>
              <a:t>accuracy and </a:t>
            </a:r>
            <a:r>
              <a:rPr lang="en-US" sz="1800" b="1" dirty="0" smtClean="0"/>
              <a:t>performance.</a:t>
            </a:r>
          </a:p>
          <a:p>
            <a:pPr>
              <a:buFont typeface="Wingdings" pitchFamily="2" charset="2"/>
              <a:buChar char="Ø"/>
            </a:pPr>
            <a:r>
              <a:rPr lang="en-US" sz="1800" b="1" dirty="0"/>
              <a:t>INT4</a:t>
            </a:r>
            <a:r>
              <a:rPr lang="en-US" sz="1800" dirty="0"/>
              <a:t> offers higher </a:t>
            </a:r>
            <a:r>
              <a:rPr lang="en-US" sz="1800" b="1" dirty="0"/>
              <a:t>speed</a:t>
            </a:r>
            <a:r>
              <a:rPr lang="en-US" sz="1800" dirty="0"/>
              <a:t> with slight reduction in quality </a:t>
            </a:r>
            <a:endParaRPr lang="en-US" sz="1800" dirty="0" smtClean="0"/>
          </a:p>
          <a:p>
            <a:pPr>
              <a:buFont typeface="Wingdings" pitchFamily="2" charset="2"/>
              <a:buChar char="Ø"/>
            </a:pPr>
            <a:r>
              <a:rPr lang="en-US" sz="1800" dirty="0" smtClean="0"/>
              <a:t>Advanced </a:t>
            </a:r>
            <a:r>
              <a:rPr lang="en-US" sz="1800" dirty="0"/>
              <a:t>techniques like </a:t>
            </a:r>
            <a:r>
              <a:rPr lang="en-US" sz="1800" b="1" dirty="0"/>
              <a:t>GPTQ, NF4, EXL2, NVFP4</a:t>
            </a:r>
            <a:r>
              <a:rPr lang="en-US" sz="1800" dirty="0"/>
              <a:t> further optimize models </a:t>
            </a:r>
            <a:endParaRPr lang="en-US" sz="1800" dirty="0" smtClean="0"/>
          </a:p>
          <a:p>
            <a:pPr>
              <a:buFont typeface="Wingdings" pitchFamily="2" charset="2"/>
              <a:buChar char="Ø"/>
            </a:pPr>
            <a:r>
              <a:rPr lang="en-US" sz="1800" dirty="0" smtClean="0"/>
              <a:t>Improve </a:t>
            </a:r>
            <a:r>
              <a:rPr lang="en-US" sz="1800" b="1" dirty="0"/>
              <a:t>memory usage</a:t>
            </a:r>
            <a:r>
              <a:rPr lang="en-US" sz="1800" dirty="0"/>
              <a:t> and </a:t>
            </a:r>
            <a:r>
              <a:rPr lang="en-US" sz="1800" b="1" dirty="0"/>
              <a:t>inference speed</a:t>
            </a:r>
            <a:r>
              <a:rPr lang="en-US" sz="1800" dirty="0"/>
              <a:t> </a:t>
            </a:r>
            <a:endParaRPr lang="en-US" sz="1800" dirty="0" smtClean="0"/>
          </a:p>
          <a:p>
            <a:pPr>
              <a:buFont typeface="Wingdings" pitchFamily="2" charset="2"/>
              <a:buChar char="Ø"/>
            </a:pPr>
            <a:r>
              <a:rPr lang="en-US" sz="1800" dirty="0" smtClean="0"/>
              <a:t>Applied </a:t>
            </a:r>
            <a:r>
              <a:rPr lang="en-US" sz="1800" dirty="0"/>
              <a:t>on both </a:t>
            </a:r>
            <a:r>
              <a:rPr lang="en-US" sz="1800" b="1" dirty="0"/>
              <a:t>GPT-2</a:t>
            </a:r>
            <a:r>
              <a:rPr lang="en-US" sz="1800" dirty="0"/>
              <a:t> and </a:t>
            </a:r>
            <a:r>
              <a:rPr lang="en-US" sz="1800" b="1" dirty="0"/>
              <a:t>LLaMA-2</a:t>
            </a:r>
            <a:r>
              <a:rPr lang="en-US" sz="1800" dirty="0"/>
              <a:t> for comparison</a:t>
            </a:r>
            <a:endParaRPr lang="en-US" sz="1800" dirty="0" smtClean="0"/>
          </a:p>
          <a:p>
            <a:pPr marL="0" indent="0">
              <a:buNone/>
            </a:pPr>
            <a:r>
              <a:rPr lang="en-US" sz="1800" b="1" dirty="0" smtClean="0"/>
              <a:t>Diagram:-</a:t>
            </a:r>
          </a:p>
          <a:p>
            <a:pPr>
              <a:buFont typeface="Wingdings" pitchFamily="2" charset="2"/>
              <a:buChar char="§"/>
            </a:pPr>
            <a:r>
              <a:rPr lang="en-IN" sz="1600" b="1" dirty="0"/>
              <a:t>INT8  → Medium Size → Good Accuracy  </a:t>
            </a:r>
          </a:p>
          <a:p>
            <a:pPr>
              <a:buFont typeface="Wingdings" pitchFamily="2" charset="2"/>
              <a:buChar char="§"/>
            </a:pPr>
            <a:r>
              <a:rPr lang="en-IN" sz="1600" b="1" dirty="0"/>
              <a:t>INT4  → Small Size  → Faster (Slight Quality Loss)  </a:t>
            </a:r>
          </a:p>
          <a:p>
            <a:pPr>
              <a:buFont typeface="Wingdings" pitchFamily="2" charset="2"/>
              <a:buChar char="§"/>
            </a:pPr>
            <a:r>
              <a:rPr lang="en-IN" sz="1600" b="1" dirty="0"/>
              <a:t>GPTQ  → Optimized Quantization → Better Efficiency  </a:t>
            </a:r>
          </a:p>
          <a:p>
            <a:pPr>
              <a:buFont typeface="Wingdings" pitchFamily="2" charset="2"/>
              <a:buChar char="§"/>
            </a:pPr>
            <a:r>
              <a:rPr lang="en-IN" sz="1600" b="1" dirty="0"/>
              <a:t>NF4   → 4-bit Optimized → Memory Efficient  </a:t>
            </a:r>
          </a:p>
          <a:p>
            <a:pPr>
              <a:buFont typeface="Wingdings" pitchFamily="2" charset="2"/>
              <a:buChar char="§"/>
            </a:pPr>
            <a:r>
              <a:rPr lang="en-IN" sz="1600" b="1" dirty="0"/>
              <a:t>EXL2  → High Compression → Faster Inference  </a:t>
            </a:r>
          </a:p>
          <a:p>
            <a:pPr>
              <a:buFont typeface="Wingdings" pitchFamily="2" charset="2"/>
              <a:buChar char="§"/>
            </a:pPr>
            <a:r>
              <a:rPr lang="en-IN" sz="1600" b="1" dirty="0"/>
              <a:t>NVFP4 → Ultra Low Precision → Maximum Efficiency</a:t>
            </a:r>
          </a:p>
        </p:txBody>
      </p:sp>
    </p:spTree>
    <p:extLst>
      <p:ext uri="{BB962C8B-B14F-4D97-AF65-F5344CB8AC3E}">
        <p14:creationId xmlns:p14="http://schemas.microsoft.com/office/powerpoint/2010/main" val="3918492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 y="1123837"/>
            <a:ext cx="3135087" cy="4601183"/>
          </a:xfrm>
        </p:spPr>
        <p:txBody>
          <a:bodyPr>
            <a:normAutofit/>
          </a:bodyPr>
          <a:lstStyle/>
          <a:p>
            <a:r>
              <a:rPr lang="en-IN" sz="2800" b="1" dirty="0">
                <a:solidFill>
                  <a:schemeClr val="tx1"/>
                </a:solidFill>
                <a:latin typeface="Algerian" pitchFamily="82" charset="0"/>
              </a:rPr>
              <a:t>Implementation</a:t>
            </a:r>
          </a:p>
        </p:txBody>
      </p:sp>
      <p:sp>
        <p:nvSpPr>
          <p:cNvPr id="3" name="Content Placeholder 2"/>
          <p:cNvSpPr>
            <a:spLocks noGrp="1"/>
          </p:cNvSpPr>
          <p:nvPr>
            <p:ph idx="1"/>
          </p:nvPr>
        </p:nvSpPr>
        <p:spPr/>
        <p:txBody>
          <a:bodyPr/>
          <a:lstStyle/>
          <a:p>
            <a:pPr>
              <a:buFont typeface="Wingdings" pitchFamily="2" charset="2"/>
              <a:buChar char="Ø"/>
            </a:pPr>
            <a:r>
              <a:rPr lang="en-IN" sz="2400" dirty="0"/>
              <a:t>Loaded pre-trained models (</a:t>
            </a:r>
            <a:r>
              <a:rPr lang="en-IN" sz="2400" b="1" dirty="0"/>
              <a:t>GPT-2</a:t>
            </a:r>
            <a:r>
              <a:rPr lang="en-IN" sz="2400" dirty="0"/>
              <a:t>, </a:t>
            </a:r>
            <a:r>
              <a:rPr lang="en-IN" sz="2400" b="1" dirty="0"/>
              <a:t>LLaMA-2</a:t>
            </a:r>
            <a:r>
              <a:rPr lang="en-IN" sz="2400" dirty="0"/>
              <a:t>) </a:t>
            </a:r>
            <a:endParaRPr lang="en-IN" sz="2400" dirty="0" smtClean="0"/>
          </a:p>
          <a:p>
            <a:pPr>
              <a:buFont typeface="Wingdings" pitchFamily="2" charset="2"/>
              <a:buChar char="Ø"/>
            </a:pPr>
            <a:r>
              <a:rPr lang="en-IN" sz="2400" dirty="0" smtClean="0"/>
              <a:t>Applied </a:t>
            </a:r>
            <a:r>
              <a:rPr lang="en-IN" sz="2400" dirty="0"/>
              <a:t>multiple quantization techniques (</a:t>
            </a:r>
            <a:r>
              <a:rPr lang="en-IN" sz="2400" b="1" dirty="0"/>
              <a:t>INT8, INT4, GPTQ, NF4, EXL2, NVFP4</a:t>
            </a:r>
            <a:r>
              <a:rPr lang="en-IN" sz="2400" dirty="0"/>
              <a:t>) </a:t>
            </a:r>
            <a:endParaRPr lang="en-IN" sz="2400" dirty="0" smtClean="0"/>
          </a:p>
          <a:p>
            <a:pPr>
              <a:buFont typeface="Wingdings" pitchFamily="2" charset="2"/>
              <a:buChar char="Ø"/>
            </a:pPr>
            <a:r>
              <a:rPr lang="en-IN" sz="2400" dirty="0" smtClean="0"/>
              <a:t>Processed </a:t>
            </a:r>
            <a:r>
              <a:rPr lang="en-IN" sz="2400" dirty="0"/>
              <a:t>input using </a:t>
            </a:r>
            <a:r>
              <a:rPr lang="en-IN" sz="2400" b="1" dirty="0"/>
              <a:t>tokenizer</a:t>
            </a:r>
            <a:r>
              <a:rPr lang="en-IN" sz="2400" dirty="0"/>
              <a:t> </a:t>
            </a:r>
            <a:endParaRPr lang="en-IN" sz="2400" dirty="0" smtClean="0"/>
          </a:p>
          <a:p>
            <a:pPr>
              <a:buFont typeface="Wingdings" pitchFamily="2" charset="2"/>
              <a:buChar char="Ø"/>
            </a:pPr>
            <a:r>
              <a:rPr lang="en-IN" sz="2400" dirty="0" smtClean="0"/>
              <a:t>Generated </a:t>
            </a:r>
            <a:r>
              <a:rPr lang="en-IN" sz="2400" dirty="0"/>
              <a:t>outputs using </a:t>
            </a:r>
            <a:r>
              <a:rPr lang="en-IN" sz="2400" b="1" dirty="0"/>
              <a:t>sample </a:t>
            </a:r>
            <a:r>
              <a:rPr lang="en-IN" sz="2400" b="1" dirty="0" smtClean="0"/>
              <a:t>queries</a:t>
            </a:r>
          </a:p>
          <a:p>
            <a:pPr marL="0" indent="0">
              <a:buNone/>
            </a:pPr>
            <a:r>
              <a:rPr lang="en-IN" b="1" dirty="0" smtClean="0"/>
              <a:t>Diagram:-</a:t>
            </a:r>
          </a:p>
          <a:p>
            <a:pPr marL="0" indent="0">
              <a:buNone/>
            </a:pPr>
            <a:r>
              <a:rPr lang="en-IN" sz="1800" dirty="0"/>
              <a:t>➡</a:t>
            </a:r>
            <a:r>
              <a:rPr lang="en-IN" sz="1800" b="1" dirty="0" smtClean="0"/>
              <a:t>Load </a:t>
            </a:r>
            <a:r>
              <a:rPr lang="en-IN" sz="1800" b="1" dirty="0"/>
              <a:t>Model → Apply Quantization → Input Query → Generate Output</a:t>
            </a:r>
          </a:p>
        </p:txBody>
      </p:sp>
    </p:spTree>
    <p:extLst>
      <p:ext uri="{BB962C8B-B14F-4D97-AF65-F5344CB8AC3E}">
        <p14:creationId xmlns:p14="http://schemas.microsoft.com/office/powerpoint/2010/main" val="2178659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latin typeface="Algerian" pitchFamily="82" charset="0"/>
              </a:rPr>
              <a:t>Testing</a:t>
            </a:r>
            <a:r>
              <a:rPr lang="en-IN" b="1" dirty="0"/>
              <a:t> </a:t>
            </a:r>
          </a:p>
        </p:txBody>
      </p:sp>
      <p:sp>
        <p:nvSpPr>
          <p:cNvPr id="3" name="Content Placeholder 2"/>
          <p:cNvSpPr>
            <a:spLocks noGrp="1"/>
          </p:cNvSpPr>
          <p:nvPr>
            <p:ph idx="1"/>
          </p:nvPr>
        </p:nvSpPr>
        <p:spPr/>
        <p:txBody>
          <a:bodyPr/>
          <a:lstStyle/>
          <a:p>
            <a:pPr>
              <a:buFont typeface="Wingdings" pitchFamily="2" charset="2"/>
              <a:buChar char="Ø"/>
            </a:pPr>
            <a:r>
              <a:rPr lang="en-US" sz="2400" dirty="0"/>
              <a:t>Provided </a:t>
            </a:r>
            <a:r>
              <a:rPr lang="en-US" sz="2400" b="1" dirty="0"/>
              <a:t>sample text inputs</a:t>
            </a:r>
            <a:r>
              <a:rPr lang="en-US" sz="2400" dirty="0"/>
              <a:t> </a:t>
            </a:r>
            <a:endParaRPr lang="en-US" sz="2400" dirty="0" smtClean="0"/>
          </a:p>
          <a:p>
            <a:pPr>
              <a:buFont typeface="Wingdings" pitchFamily="2" charset="2"/>
              <a:buChar char="Ø"/>
            </a:pPr>
            <a:r>
              <a:rPr lang="en-US" sz="2400" dirty="0" smtClean="0"/>
              <a:t>Ran </a:t>
            </a:r>
            <a:r>
              <a:rPr lang="en-US" sz="2400" dirty="0"/>
              <a:t>queries on different </a:t>
            </a:r>
            <a:r>
              <a:rPr lang="en-US" sz="2400" b="1" dirty="0"/>
              <a:t>models and quantization techniques</a:t>
            </a:r>
            <a:r>
              <a:rPr lang="en-US" sz="2400" dirty="0"/>
              <a:t> </a:t>
            </a:r>
            <a:endParaRPr lang="en-US" sz="2400" dirty="0" smtClean="0"/>
          </a:p>
          <a:p>
            <a:pPr>
              <a:buFont typeface="Wingdings" pitchFamily="2" charset="2"/>
              <a:buChar char="Ø"/>
            </a:pPr>
            <a:r>
              <a:rPr lang="en-US" sz="2400" dirty="0" smtClean="0"/>
              <a:t>Collected </a:t>
            </a:r>
            <a:r>
              <a:rPr lang="en-US" sz="2400" dirty="0"/>
              <a:t>outputs for </a:t>
            </a:r>
            <a:r>
              <a:rPr lang="en-US" sz="2400" b="1" dirty="0"/>
              <a:t>performance analysis and comparison </a:t>
            </a:r>
            <a:endParaRPr lang="en-US" sz="2400" b="1" dirty="0" smtClean="0"/>
          </a:p>
          <a:p>
            <a:pPr marL="0" indent="0">
              <a:buNone/>
            </a:pPr>
            <a:r>
              <a:rPr lang="en-IN" b="1" dirty="0" smtClean="0"/>
              <a:t>Diagram:-</a:t>
            </a:r>
          </a:p>
          <a:p>
            <a:pPr marL="0" indent="0" algn="ctr">
              <a:buNone/>
            </a:pPr>
            <a:r>
              <a:rPr lang="en-IN" dirty="0" smtClean="0"/>
              <a:t>➡ </a:t>
            </a:r>
            <a:r>
              <a:rPr lang="en-IN" b="1" dirty="0" smtClean="0"/>
              <a:t>Input Query → Model → Output → Comparison</a:t>
            </a:r>
            <a:endParaRPr lang="en-IN" b="1" dirty="0"/>
          </a:p>
        </p:txBody>
      </p:sp>
    </p:spTree>
    <p:extLst>
      <p:ext uri="{BB962C8B-B14F-4D97-AF65-F5344CB8AC3E}">
        <p14:creationId xmlns:p14="http://schemas.microsoft.com/office/powerpoint/2010/main" val="1201917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chemeClr val="tx1"/>
                </a:solidFill>
                <a:latin typeface="Algerian" pitchFamily="82" charset="0"/>
              </a:rPr>
              <a:t>Results</a:t>
            </a:r>
            <a:r>
              <a:rPr lang="en-IN" dirty="0" smtClean="0"/>
              <a:t/>
            </a:r>
            <a:br>
              <a:rPr lang="en-IN" dirty="0" smtClean="0"/>
            </a:br>
            <a:endParaRPr lang="en-IN" sz="1800" dirty="0">
              <a:solidFill>
                <a:schemeClr val="tx1"/>
              </a:solidFill>
            </a:endParaRPr>
          </a:p>
        </p:txBody>
      </p:sp>
      <p:sp>
        <p:nvSpPr>
          <p:cNvPr id="5" name="Content Placeholder 4"/>
          <p:cNvSpPr>
            <a:spLocks noGrp="1"/>
          </p:cNvSpPr>
          <p:nvPr>
            <p:ph idx="1"/>
          </p:nvPr>
        </p:nvSpPr>
        <p:spPr/>
        <p:txBody>
          <a:bodyPr>
            <a:normAutofit/>
          </a:bodyPr>
          <a:lstStyle/>
          <a:p>
            <a:pPr>
              <a:buFont typeface="Wingdings" pitchFamily="2" charset="2"/>
              <a:buChar char="Ø"/>
            </a:pPr>
            <a:r>
              <a:rPr lang="en-US" sz="2400" dirty="0"/>
              <a:t>Quantization significantly reduces </a:t>
            </a:r>
            <a:r>
              <a:rPr lang="en-US" sz="2400" b="1" dirty="0"/>
              <a:t>memory usage</a:t>
            </a:r>
            <a:r>
              <a:rPr lang="en-US" sz="2400" dirty="0"/>
              <a:t> </a:t>
            </a:r>
            <a:endParaRPr lang="en-US" sz="2400" dirty="0" smtClean="0"/>
          </a:p>
          <a:p>
            <a:pPr>
              <a:buFont typeface="Wingdings" pitchFamily="2" charset="2"/>
              <a:buChar char="Ø"/>
            </a:pPr>
            <a:r>
              <a:rPr lang="en-US" sz="2400" dirty="0" smtClean="0"/>
              <a:t>Improves </a:t>
            </a:r>
            <a:r>
              <a:rPr lang="en-US" sz="2400" b="1" dirty="0"/>
              <a:t>inference speed</a:t>
            </a:r>
            <a:r>
              <a:rPr lang="en-US" sz="2400" dirty="0"/>
              <a:t> of the models </a:t>
            </a:r>
            <a:endParaRPr lang="en-US" sz="2400" dirty="0" smtClean="0"/>
          </a:p>
          <a:p>
            <a:pPr>
              <a:buFont typeface="Wingdings" pitchFamily="2" charset="2"/>
              <a:buChar char="Ø"/>
            </a:pPr>
            <a:r>
              <a:rPr lang="en-US" sz="2400" dirty="0" smtClean="0"/>
              <a:t>Causes </a:t>
            </a:r>
            <a:r>
              <a:rPr lang="en-US" sz="2400" dirty="0"/>
              <a:t>a slight decrease in </a:t>
            </a:r>
            <a:r>
              <a:rPr lang="en-US" sz="2400" b="1" dirty="0"/>
              <a:t>output quality</a:t>
            </a:r>
            <a:r>
              <a:rPr lang="en-US" sz="2400" dirty="0"/>
              <a:t> </a:t>
            </a:r>
            <a:endParaRPr lang="en-US" sz="2400" dirty="0" smtClean="0"/>
          </a:p>
          <a:p>
            <a:pPr>
              <a:buFont typeface="Wingdings" pitchFamily="2" charset="2"/>
              <a:buChar char="Ø"/>
            </a:pPr>
            <a:r>
              <a:rPr lang="en-US" sz="2400" dirty="0" smtClean="0"/>
              <a:t>Overall </a:t>
            </a:r>
            <a:r>
              <a:rPr lang="en-US" sz="2400" dirty="0"/>
              <a:t>performance remains </a:t>
            </a:r>
            <a:r>
              <a:rPr lang="en-US" sz="2400" b="1" dirty="0"/>
              <a:t>efficient and </a:t>
            </a:r>
            <a:r>
              <a:rPr lang="en-US" sz="2400" b="1" dirty="0" smtClean="0"/>
              <a:t>practical</a:t>
            </a:r>
          </a:p>
          <a:p>
            <a:pPr marL="0" indent="0">
              <a:buNone/>
            </a:pPr>
            <a:r>
              <a:rPr lang="en-US" sz="2400" b="1" dirty="0" smtClean="0"/>
              <a:t>Diagram:</a:t>
            </a:r>
            <a:endParaRPr lang="en-US" sz="2400" dirty="0"/>
          </a:p>
          <a:p>
            <a:pPr marL="0" indent="0" algn="ctr">
              <a:buNone/>
            </a:pPr>
            <a:r>
              <a:rPr lang="en-IN" b="1" dirty="0"/>
              <a:t>Speed   ↑  </a:t>
            </a:r>
          </a:p>
          <a:p>
            <a:pPr marL="0" indent="0" algn="ctr">
              <a:buNone/>
            </a:pPr>
            <a:r>
              <a:rPr lang="en-IN" b="1" dirty="0"/>
              <a:t>Memory  ↓  </a:t>
            </a:r>
          </a:p>
          <a:p>
            <a:pPr marL="0" indent="0" algn="ctr">
              <a:buNone/>
            </a:pPr>
            <a:r>
              <a:rPr lang="en-IN" b="1" dirty="0"/>
              <a:t>Quality ↓ (slight)</a:t>
            </a:r>
          </a:p>
        </p:txBody>
      </p:sp>
    </p:spTree>
    <p:extLst>
      <p:ext uri="{BB962C8B-B14F-4D97-AF65-F5344CB8AC3E}">
        <p14:creationId xmlns:p14="http://schemas.microsoft.com/office/powerpoint/2010/main" val="848806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5400" b="1" dirty="0" smtClean="0">
                <a:solidFill>
                  <a:schemeClr val="tx1"/>
                </a:solidFill>
                <a:latin typeface="Algerian" pitchFamily="82" charset="0"/>
              </a:rPr>
              <a:t>Charts</a:t>
            </a:r>
            <a:endParaRPr lang="en-IN" sz="5400" b="1" dirty="0">
              <a:solidFill>
                <a:schemeClr val="tx1"/>
              </a:solidFill>
              <a:latin typeface="Algerian" pitchFamily="82" charset="0"/>
            </a:endParaRPr>
          </a:p>
        </p:txBody>
      </p:sp>
      <p:pic>
        <p:nvPicPr>
          <p:cNvPr id="5"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29608" y="802432"/>
            <a:ext cx="3844212" cy="5187821"/>
          </a:xfrm>
        </p:spPr>
      </p:pic>
      <p:pic>
        <p:nvPicPr>
          <p:cNvPr id="6" name="Content Placeholder 7"/>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585789" y="895739"/>
            <a:ext cx="4320072" cy="4777273"/>
          </a:xfrm>
        </p:spPr>
      </p:pic>
    </p:spTree>
    <p:extLst>
      <p:ext uri="{BB962C8B-B14F-4D97-AF65-F5344CB8AC3E}">
        <p14:creationId xmlns:p14="http://schemas.microsoft.com/office/powerpoint/2010/main" val="327474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IN" b="1" dirty="0" smtClean="0">
                <a:solidFill>
                  <a:schemeClr val="tx1"/>
                </a:solidFill>
                <a:latin typeface="Algerian" pitchFamily="82" charset="0"/>
              </a:rPr>
              <a:t>Comparison</a:t>
            </a:r>
            <a:r>
              <a:rPr lang="en-IN" dirty="0" smtClean="0">
                <a:latin typeface="Algerian" pitchFamily="82" charset="0"/>
              </a:rPr>
              <a:t/>
            </a:r>
            <a:br>
              <a:rPr lang="en-IN" dirty="0" smtClean="0">
                <a:latin typeface="Algerian" pitchFamily="82" charset="0"/>
              </a:rPr>
            </a:br>
            <a:r>
              <a:rPr lang="en-US" sz="1600" dirty="0" smtClean="0"/>
              <a:t/>
            </a:r>
            <a:br>
              <a:rPr lang="en-US" sz="1600" dirty="0" smtClean="0"/>
            </a:br>
            <a:r>
              <a:rPr lang="en-US" sz="1600" dirty="0"/>
              <a:t>Quantized models improve </a:t>
            </a:r>
            <a:r>
              <a:rPr lang="en-US" sz="1600" b="1" dirty="0"/>
              <a:t>speed</a:t>
            </a:r>
            <a:r>
              <a:rPr lang="en-US" sz="1600" dirty="0"/>
              <a:t> and </a:t>
            </a:r>
            <a:r>
              <a:rPr lang="en-US" sz="1600" b="1" dirty="0"/>
              <a:t>memory efficiency</a:t>
            </a:r>
            <a:r>
              <a:rPr lang="en-US" sz="1600" dirty="0"/>
              <a:t> </a:t>
            </a:r>
            <a:r>
              <a:rPr lang="en-US" sz="1600" dirty="0" smtClean="0"/>
              <a:t/>
            </a:r>
            <a:br>
              <a:rPr lang="en-US" sz="1600" dirty="0" smtClean="0"/>
            </a:br>
            <a:r>
              <a:rPr lang="en-US" sz="1600" dirty="0" smtClean="0"/>
              <a:t/>
            </a:r>
            <a:br>
              <a:rPr lang="en-US" sz="1600" dirty="0" smtClean="0"/>
            </a:br>
            <a:r>
              <a:rPr lang="en-US" sz="1600" dirty="0" smtClean="0"/>
              <a:t>Normal </a:t>
            </a:r>
            <a:r>
              <a:rPr lang="en-US" sz="1600" dirty="0"/>
              <a:t>models provide slightly better </a:t>
            </a:r>
            <a:r>
              <a:rPr lang="en-US" sz="1600" b="1" dirty="0"/>
              <a:t>output quality</a:t>
            </a:r>
            <a:r>
              <a:rPr lang="en-US" sz="1600" dirty="0"/>
              <a:t> </a:t>
            </a:r>
            <a:r>
              <a:rPr lang="en-US" sz="1600" dirty="0" smtClean="0"/>
              <a:t/>
            </a:r>
            <a:br>
              <a:rPr lang="en-US" sz="1600" dirty="0" smtClean="0"/>
            </a:br>
            <a:r>
              <a:rPr lang="en-US" sz="1600" dirty="0" smtClean="0"/>
              <a:t/>
            </a:r>
            <a:br>
              <a:rPr lang="en-US" sz="1600" dirty="0" smtClean="0"/>
            </a:br>
            <a:r>
              <a:rPr lang="en-US" sz="1600" dirty="0" smtClean="0"/>
              <a:t>Shows </a:t>
            </a:r>
            <a:r>
              <a:rPr lang="en-US" sz="1600" dirty="0"/>
              <a:t>a trade-off between </a:t>
            </a:r>
            <a:r>
              <a:rPr lang="en-US" sz="1600" b="1" dirty="0"/>
              <a:t>efficiency and accuracy</a:t>
            </a:r>
            <a:endParaRPr lang="en-IN" sz="1600" dirty="0">
              <a:solidFill>
                <a:schemeClr val="tx1"/>
              </a:solidFill>
              <a:latin typeface="Arial Narrow" pitchFamily="34" charset="0"/>
            </a:endParaRPr>
          </a:p>
        </p:txBody>
      </p:sp>
      <p:sp>
        <p:nvSpPr>
          <p:cNvPr id="6" name="Content Placeholder 5"/>
          <p:cNvSpPr>
            <a:spLocks noGrp="1"/>
          </p:cNvSpPr>
          <p:nvPr>
            <p:ph idx="1"/>
          </p:nvPr>
        </p:nvSpPr>
        <p:spPr/>
        <p:txBody>
          <a:bodyPr/>
          <a:lstStyle/>
          <a:p>
            <a:r>
              <a:rPr lang="en-IN" b="1" dirty="0">
                <a:latin typeface="Arial Narrow" pitchFamily="34" charset="0"/>
              </a:rPr>
              <a:t>Comparison: Normal vs Quantized </a:t>
            </a:r>
            <a:r>
              <a:rPr lang="en-IN" b="1" dirty="0" smtClean="0">
                <a:latin typeface="Arial Narrow" pitchFamily="34" charset="0"/>
              </a:rPr>
              <a:t>Model</a:t>
            </a:r>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1616551373"/>
              </p:ext>
            </p:extLst>
          </p:nvPr>
        </p:nvGraphicFramePr>
        <p:xfrm>
          <a:off x="4488023" y="2015412"/>
          <a:ext cx="6695913" cy="3265715"/>
        </p:xfrm>
        <a:graphic>
          <a:graphicData uri="http://schemas.openxmlformats.org/drawingml/2006/table">
            <a:tbl>
              <a:tblPr/>
              <a:tblGrid>
                <a:gridCol w="2231971"/>
                <a:gridCol w="2231971"/>
                <a:gridCol w="2231971"/>
              </a:tblGrid>
              <a:tr h="653143">
                <a:tc>
                  <a:txBody>
                    <a:bodyPr/>
                    <a:lstStyle/>
                    <a:p>
                      <a:r>
                        <a:rPr lang="en-IN" dirty="0">
                          <a:latin typeface="Arial Narrow" pitchFamily="34" charset="0"/>
                        </a:rPr>
                        <a:t>Feature</a:t>
                      </a:r>
                    </a:p>
                  </a:txBody>
                  <a:tcPr anchor="ctr">
                    <a:lnL>
                      <a:noFill/>
                    </a:lnL>
                    <a:lnR>
                      <a:noFill/>
                    </a:lnR>
                    <a:lnT>
                      <a:noFill/>
                    </a:lnT>
                    <a:lnB>
                      <a:noFill/>
                    </a:lnB>
                  </a:tcPr>
                </a:tc>
                <a:tc>
                  <a:txBody>
                    <a:bodyPr/>
                    <a:lstStyle/>
                    <a:p>
                      <a:r>
                        <a:rPr lang="en-IN"/>
                        <a:t>Normal Model</a:t>
                      </a:r>
                    </a:p>
                  </a:txBody>
                  <a:tcPr anchor="ctr">
                    <a:lnL>
                      <a:noFill/>
                    </a:lnL>
                    <a:lnR>
                      <a:noFill/>
                    </a:lnR>
                    <a:lnT>
                      <a:noFill/>
                    </a:lnT>
                    <a:lnB>
                      <a:noFill/>
                    </a:lnB>
                  </a:tcPr>
                </a:tc>
                <a:tc>
                  <a:txBody>
                    <a:bodyPr/>
                    <a:lstStyle/>
                    <a:p>
                      <a:r>
                        <a:rPr lang="en-IN"/>
                        <a:t>Quantized Model</a:t>
                      </a:r>
                    </a:p>
                  </a:txBody>
                  <a:tcPr anchor="ctr">
                    <a:lnL>
                      <a:noFill/>
                    </a:lnL>
                    <a:lnR>
                      <a:noFill/>
                    </a:lnR>
                    <a:lnT>
                      <a:noFill/>
                    </a:lnT>
                    <a:lnB>
                      <a:noFill/>
                    </a:lnB>
                  </a:tcPr>
                </a:tc>
              </a:tr>
              <a:tr h="653143">
                <a:tc>
                  <a:txBody>
                    <a:bodyPr/>
                    <a:lstStyle/>
                    <a:p>
                      <a:r>
                        <a:rPr lang="en-IN" dirty="0"/>
                        <a:t>Model Size</a:t>
                      </a:r>
                    </a:p>
                  </a:txBody>
                  <a:tcPr anchor="ctr">
                    <a:lnL>
                      <a:noFill/>
                    </a:lnL>
                    <a:lnR>
                      <a:noFill/>
                    </a:lnR>
                    <a:lnT>
                      <a:noFill/>
                    </a:lnT>
                    <a:lnB>
                      <a:noFill/>
                    </a:lnB>
                  </a:tcPr>
                </a:tc>
                <a:tc>
                  <a:txBody>
                    <a:bodyPr/>
                    <a:lstStyle/>
                    <a:p>
                      <a:r>
                        <a:rPr lang="en-IN" dirty="0"/>
                        <a:t>Large</a:t>
                      </a:r>
                    </a:p>
                  </a:txBody>
                  <a:tcPr anchor="ctr">
                    <a:lnL>
                      <a:noFill/>
                    </a:lnL>
                    <a:lnR>
                      <a:noFill/>
                    </a:lnR>
                    <a:lnT>
                      <a:noFill/>
                    </a:lnT>
                    <a:lnB>
                      <a:noFill/>
                    </a:lnB>
                  </a:tcPr>
                </a:tc>
                <a:tc>
                  <a:txBody>
                    <a:bodyPr/>
                    <a:lstStyle/>
                    <a:p>
                      <a:r>
                        <a:rPr lang="en-IN"/>
                        <a:t>Reduced</a:t>
                      </a:r>
                    </a:p>
                  </a:txBody>
                  <a:tcPr anchor="ctr">
                    <a:lnL>
                      <a:noFill/>
                    </a:lnL>
                    <a:lnR>
                      <a:noFill/>
                    </a:lnR>
                    <a:lnT>
                      <a:noFill/>
                    </a:lnT>
                    <a:lnB>
                      <a:noFill/>
                    </a:lnB>
                  </a:tcPr>
                </a:tc>
              </a:tr>
              <a:tr h="653143">
                <a:tc>
                  <a:txBody>
                    <a:bodyPr/>
                    <a:lstStyle/>
                    <a:p>
                      <a:r>
                        <a:rPr lang="en-IN" dirty="0"/>
                        <a:t>Memory Usage</a:t>
                      </a:r>
                    </a:p>
                  </a:txBody>
                  <a:tcPr anchor="ctr">
                    <a:lnL>
                      <a:noFill/>
                    </a:lnL>
                    <a:lnR>
                      <a:noFill/>
                    </a:lnR>
                    <a:lnT>
                      <a:noFill/>
                    </a:lnT>
                    <a:lnB>
                      <a:noFill/>
                    </a:lnB>
                  </a:tcPr>
                </a:tc>
                <a:tc>
                  <a:txBody>
                    <a:bodyPr/>
                    <a:lstStyle/>
                    <a:p>
                      <a:r>
                        <a:rPr lang="en-IN" dirty="0"/>
                        <a:t>High</a:t>
                      </a:r>
                    </a:p>
                  </a:txBody>
                  <a:tcPr anchor="ctr">
                    <a:lnL>
                      <a:noFill/>
                    </a:lnL>
                    <a:lnR>
                      <a:noFill/>
                    </a:lnR>
                    <a:lnT>
                      <a:noFill/>
                    </a:lnT>
                    <a:lnB>
                      <a:noFill/>
                    </a:lnB>
                  </a:tcPr>
                </a:tc>
                <a:tc>
                  <a:txBody>
                    <a:bodyPr/>
                    <a:lstStyle/>
                    <a:p>
                      <a:r>
                        <a:rPr lang="en-IN" dirty="0"/>
                        <a:t>Low</a:t>
                      </a:r>
                    </a:p>
                  </a:txBody>
                  <a:tcPr anchor="ctr">
                    <a:lnL>
                      <a:noFill/>
                    </a:lnL>
                    <a:lnR>
                      <a:noFill/>
                    </a:lnR>
                    <a:lnT>
                      <a:noFill/>
                    </a:lnT>
                    <a:lnB>
                      <a:noFill/>
                    </a:lnB>
                  </a:tcPr>
                </a:tc>
              </a:tr>
              <a:tr h="653143">
                <a:tc>
                  <a:txBody>
                    <a:bodyPr/>
                    <a:lstStyle/>
                    <a:p>
                      <a:r>
                        <a:rPr lang="en-IN" dirty="0"/>
                        <a:t>Speed</a:t>
                      </a:r>
                    </a:p>
                  </a:txBody>
                  <a:tcPr anchor="ctr">
                    <a:lnL>
                      <a:noFill/>
                    </a:lnL>
                    <a:lnR>
                      <a:noFill/>
                    </a:lnR>
                    <a:lnT>
                      <a:noFill/>
                    </a:lnT>
                    <a:lnB>
                      <a:noFill/>
                    </a:lnB>
                  </a:tcPr>
                </a:tc>
                <a:tc>
                  <a:txBody>
                    <a:bodyPr/>
                    <a:lstStyle/>
                    <a:p>
                      <a:r>
                        <a:rPr lang="en-IN"/>
                        <a:t>Slower</a:t>
                      </a:r>
                    </a:p>
                  </a:txBody>
                  <a:tcPr anchor="ctr">
                    <a:lnL>
                      <a:noFill/>
                    </a:lnL>
                    <a:lnR>
                      <a:noFill/>
                    </a:lnR>
                    <a:lnT>
                      <a:noFill/>
                    </a:lnT>
                    <a:lnB>
                      <a:noFill/>
                    </a:lnB>
                  </a:tcPr>
                </a:tc>
                <a:tc>
                  <a:txBody>
                    <a:bodyPr/>
                    <a:lstStyle/>
                    <a:p>
                      <a:r>
                        <a:rPr lang="en-IN" dirty="0"/>
                        <a:t>Faster</a:t>
                      </a:r>
                    </a:p>
                  </a:txBody>
                  <a:tcPr anchor="ctr">
                    <a:lnL>
                      <a:noFill/>
                    </a:lnL>
                    <a:lnR>
                      <a:noFill/>
                    </a:lnR>
                    <a:lnT>
                      <a:noFill/>
                    </a:lnT>
                    <a:lnB>
                      <a:noFill/>
                    </a:lnB>
                  </a:tcPr>
                </a:tc>
              </a:tr>
              <a:tr h="653143">
                <a:tc>
                  <a:txBody>
                    <a:bodyPr/>
                    <a:lstStyle/>
                    <a:p>
                      <a:r>
                        <a:rPr lang="en-IN" dirty="0"/>
                        <a:t>Output Quality</a:t>
                      </a:r>
                    </a:p>
                  </a:txBody>
                  <a:tcPr anchor="ctr">
                    <a:lnL>
                      <a:noFill/>
                    </a:lnL>
                    <a:lnR>
                      <a:noFill/>
                    </a:lnR>
                    <a:lnT>
                      <a:noFill/>
                    </a:lnT>
                    <a:lnB>
                      <a:noFill/>
                    </a:lnB>
                  </a:tcPr>
                </a:tc>
                <a:tc>
                  <a:txBody>
                    <a:bodyPr/>
                    <a:lstStyle/>
                    <a:p>
                      <a:r>
                        <a:rPr lang="en-IN"/>
                        <a:t>High</a:t>
                      </a:r>
                    </a:p>
                  </a:txBody>
                  <a:tcPr anchor="ctr">
                    <a:lnL>
                      <a:noFill/>
                    </a:lnL>
                    <a:lnR>
                      <a:noFill/>
                    </a:lnR>
                    <a:lnT>
                      <a:noFill/>
                    </a:lnT>
                    <a:lnB>
                      <a:noFill/>
                    </a:lnB>
                  </a:tcPr>
                </a:tc>
                <a:tc>
                  <a:txBody>
                    <a:bodyPr/>
                    <a:lstStyle/>
                    <a:p>
                      <a:r>
                        <a:rPr lang="en-IN" dirty="0"/>
                        <a:t>Slightly Reduced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64003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latin typeface="Algerian" pitchFamily="82" charset="0"/>
              </a:rPr>
              <a:t>Challenges </a:t>
            </a:r>
          </a:p>
        </p:txBody>
      </p:sp>
      <p:sp>
        <p:nvSpPr>
          <p:cNvPr id="3" name="Content Placeholder 2"/>
          <p:cNvSpPr>
            <a:spLocks noGrp="1"/>
          </p:cNvSpPr>
          <p:nvPr>
            <p:ph idx="1"/>
          </p:nvPr>
        </p:nvSpPr>
        <p:spPr/>
        <p:txBody>
          <a:bodyPr/>
          <a:lstStyle/>
          <a:p>
            <a:pPr>
              <a:buFont typeface="Wingdings" pitchFamily="2" charset="2"/>
              <a:buChar char="Ø"/>
            </a:pPr>
            <a:r>
              <a:rPr lang="en-US" dirty="0"/>
              <a:t>Faced </a:t>
            </a:r>
            <a:r>
              <a:rPr lang="en-US" b="1" dirty="0"/>
              <a:t>rendering errors</a:t>
            </a:r>
            <a:r>
              <a:rPr lang="en-US" dirty="0"/>
              <a:t> during execution </a:t>
            </a:r>
            <a:endParaRPr lang="en-US" dirty="0" smtClean="0"/>
          </a:p>
          <a:p>
            <a:pPr>
              <a:buFont typeface="Wingdings" pitchFamily="2" charset="2"/>
              <a:buChar char="Ø"/>
            </a:pPr>
            <a:r>
              <a:rPr lang="en-US" dirty="0" smtClean="0"/>
              <a:t>High </a:t>
            </a:r>
            <a:r>
              <a:rPr lang="en-US" b="1" dirty="0"/>
              <a:t>memory usage</a:t>
            </a:r>
            <a:r>
              <a:rPr lang="en-US" dirty="0"/>
              <a:t> for large models </a:t>
            </a:r>
            <a:endParaRPr lang="en-US" dirty="0" smtClean="0"/>
          </a:p>
          <a:p>
            <a:pPr>
              <a:buFont typeface="Wingdings" pitchFamily="2" charset="2"/>
              <a:buChar char="Ø"/>
            </a:pPr>
            <a:r>
              <a:rPr lang="en-US" dirty="0" smtClean="0"/>
              <a:t>Difficulty </a:t>
            </a:r>
            <a:r>
              <a:rPr lang="en-US" dirty="0"/>
              <a:t>in applying multiple </a:t>
            </a:r>
            <a:r>
              <a:rPr lang="en-US" b="1" dirty="0"/>
              <a:t>quantization techniques</a:t>
            </a:r>
            <a:r>
              <a:rPr lang="en-US" dirty="0"/>
              <a:t> </a:t>
            </a:r>
            <a:endParaRPr lang="en-US" dirty="0" smtClean="0"/>
          </a:p>
          <a:p>
            <a:pPr>
              <a:buFont typeface="Wingdings" pitchFamily="2" charset="2"/>
              <a:buChar char="Ø"/>
            </a:pPr>
            <a:r>
              <a:rPr lang="en-US" dirty="0" smtClean="0"/>
              <a:t>Managed </a:t>
            </a:r>
            <a:r>
              <a:rPr lang="en-US" dirty="0"/>
              <a:t>by optimizing </a:t>
            </a:r>
            <a:r>
              <a:rPr lang="en-US" b="1" dirty="0"/>
              <a:t>configurations and workflow</a:t>
            </a:r>
            <a:endParaRPr lang="en-US" dirty="0"/>
          </a:p>
          <a:p>
            <a:pPr marL="0" indent="0">
              <a:buNone/>
            </a:pPr>
            <a:r>
              <a:rPr lang="en-US" b="1" dirty="0" smtClean="0"/>
              <a:t>Diagram:</a:t>
            </a:r>
          </a:p>
          <a:p>
            <a:pPr marL="0" indent="0" algn="ctr">
              <a:buNone/>
            </a:pPr>
            <a:r>
              <a:rPr lang="en-US" sz="1800" b="1" dirty="0"/>
              <a:t>Problems → Solutions  </a:t>
            </a:r>
          </a:p>
          <a:p>
            <a:pPr marL="0" indent="0" algn="ctr">
              <a:buNone/>
            </a:pPr>
            <a:endParaRPr lang="en-US" sz="1800" b="1" dirty="0"/>
          </a:p>
          <a:p>
            <a:pPr marL="0" indent="0" algn="ctr">
              <a:buNone/>
            </a:pPr>
            <a:r>
              <a:rPr lang="en-US" sz="1800" b="1" dirty="0"/>
              <a:t>Rendering Issue → Fixed configuration  </a:t>
            </a:r>
          </a:p>
          <a:p>
            <a:pPr marL="0" indent="0" algn="ctr">
              <a:buNone/>
            </a:pPr>
            <a:r>
              <a:rPr lang="en-US" sz="1800" b="1" dirty="0"/>
              <a:t>High Memory → Used quantization  </a:t>
            </a:r>
          </a:p>
          <a:p>
            <a:pPr marL="0" indent="0" algn="ctr">
              <a:buNone/>
            </a:pPr>
            <a:r>
              <a:rPr lang="en-US" sz="1800" b="1" dirty="0"/>
              <a:t>Complexity → Simplified workflow </a:t>
            </a:r>
          </a:p>
          <a:p>
            <a:pPr marL="0" indent="0">
              <a:buNone/>
            </a:pPr>
            <a:endParaRPr lang="en-IN" dirty="0"/>
          </a:p>
        </p:txBody>
      </p:sp>
    </p:spTree>
    <p:extLst>
      <p:ext uri="{BB962C8B-B14F-4D97-AF65-F5344CB8AC3E}">
        <p14:creationId xmlns:p14="http://schemas.microsoft.com/office/powerpoint/2010/main" val="2034003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latin typeface="Algerian" pitchFamily="82" charset="0"/>
              </a:rPr>
              <a:t>Conclusion</a:t>
            </a:r>
          </a:p>
        </p:txBody>
      </p:sp>
      <p:sp>
        <p:nvSpPr>
          <p:cNvPr id="3" name="Content Placeholder 2"/>
          <p:cNvSpPr>
            <a:spLocks noGrp="1"/>
          </p:cNvSpPr>
          <p:nvPr>
            <p:ph idx="1"/>
          </p:nvPr>
        </p:nvSpPr>
        <p:spPr/>
        <p:txBody>
          <a:bodyPr>
            <a:normAutofit/>
          </a:bodyPr>
          <a:lstStyle/>
          <a:p>
            <a:pPr marL="0" indent="0">
              <a:buNone/>
            </a:pPr>
            <a:r>
              <a:rPr lang="en-US" sz="2800" dirty="0"/>
              <a:t>This project demonstrates that </a:t>
            </a:r>
            <a:r>
              <a:rPr lang="en-US" sz="2800" b="1" dirty="0"/>
              <a:t>quantization</a:t>
            </a:r>
            <a:r>
              <a:rPr lang="en-US" sz="2800" dirty="0"/>
              <a:t> is an effective technique for optimizing Large Language Models. By reducing the precision of model weights, it significantly decreases memory usage and improves processing speed. Although there is a slight trade-off in output quality, the overall performance remains efficient and acceptable. Therefore, quantization provides a practical solution for deploying large language models in real-world applications.</a:t>
            </a:r>
            <a:endParaRPr lang="en-IN" sz="2800" dirty="0">
              <a:latin typeface="Arial Narrow" pitchFamily="34" charset="0"/>
            </a:endParaRPr>
          </a:p>
        </p:txBody>
      </p:sp>
    </p:spTree>
    <p:extLst>
      <p:ext uri="{BB962C8B-B14F-4D97-AF65-F5344CB8AC3E}">
        <p14:creationId xmlns:p14="http://schemas.microsoft.com/office/powerpoint/2010/main" val="1947371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IN" sz="8800" dirty="0" smtClean="0">
                <a:latin typeface="Algerian" pitchFamily="82" charset="0"/>
              </a:rPr>
              <a:t>       THANK </a:t>
            </a:r>
            <a:br>
              <a:rPr lang="en-IN" sz="8800" dirty="0" smtClean="0">
                <a:latin typeface="Algerian" pitchFamily="82" charset="0"/>
              </a:rPr>
            </a:br>
            <a:r>
              <a:rPr lang="en-IN" sz="8800" dirty="0" smtClean="0">
                <a:latin typeface="Algerian" pitchFamily="82" charset="0"/>
              </a:rPr>
              <a:t>         YOU!</a:t>
            </a:r>
            <a:endParaRPr lang="en-IN" sz="8800" dirty="0">
              <a:latin typeface="Algerian" pitchFamily="82" charset="0"/>
            </a:endParaRPr>
          </a:p>
        </p:txBody>
      </p:sp>
      <p:sp>
        <p:nvSpPr>
          <p:cNvPr id="5" name="Subtitle 4"/>
          <p:cNvSpPr>
            <a:spLocks noGrp="1"/>
          </p:cNvSpPr>
          <p:nvPr>
            <p:ph type="subTitle" idx="1"/>
          </p:nvPr>
        </p:nvSpPr>
        <p:spPr>
          <a:xfrm flipV="1">
            <a:off x="1100015" y="5617028"/>
            <a:ext cx="7315200" cy="46653"/>
          </a:xfrm>
        </p:spPr>
        <p:txBody>
          <a:bodyPr>
            <a:normAutofit fontScale="25000" lnSpcReduction="20000"/>
          </a:bodyPr>
          <a:lstStyle/>
          <a:p>
            <a:endParaRPr lang="en-IN" dirty="0"/>
          </a:p>
        </p:txBody>
      </p:sp>
    </p:spTree>
    <p:extLst>
      <p:ext uri="{BB962C8B-B14F-4D97-AF65-F5344CB8AC3E}">
        <p14:creationId xmlns:p14="http://schemas.microsoft.com/office/powerpoint/2010/main" val="25660270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453</TotalTime>
  <Words>698</Words>
  <Application>Microsoft Office PowerPoint</Application>
  <PresentationFormat>Custom</PresentationFormat>
  <Paragraphs>121</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Frame</vt:lpstr>
      <vt:lpstr>GENERATIVE AI  LLM Quantization Techniques – Comparative Analysis  </vt:lpstr>
      <vt:lpstr>Introduction</vt:lpstr>
      <vt:lpstr>Objective</vt:lpstr>
      <vt:lpstr>Models Used &amp; Quantization</vt:lpstr>
      <vt:lpstr>What is Quantization?</vt:lpstr>
      <vt:lpstr>Techniques Used</vt:lpstr>
      <vt:lpstr>Implementation</vt:lpstr>
      <vt:lpstr>Testing </vt:lpstr>
      <vt:lpstr>Results </vt:lpstr>
      <vt:lpstr>Charts</vt:lpstr>
      <vt:lpstr>Comparison  Quantized models improve speed and memory efficiency   Normal models provide slightly better output quality   Shows a trade-off between efficiency and accuracy</vt:lpstr>
      <vt:lpstr>Challenges </vt:lpstr>
      <vt:lpstr>Conclusion</vt:lpstr>
      <vt:lpstr>       THANK           YOU!</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Sneha Pramanik</dc:creator>
  <cp:lastModifiedBy>Sneha Pramanik</cp:lastModifiedBy>
  <cp:revision>32</cp:revision>
  <dcterms:created xsi:type="dcterms:W3CDTF">2026-05-04T14:17:58Z</dcterms:created>
  <dcterms:modified xsi:type="dcterms:W3CDTF">2026-05-11T13:41:24Z</dcterms:modified>
</cp:coreProperties>
</file>